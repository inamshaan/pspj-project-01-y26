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Gloock" panose="020B0604020202020204" charset="0"/>
      <p:regular r:id="rId18"/>
    </p:embeddedFont>
    <p:embeddedFont>
      <p:font typeface="Host Grotesk" panose="020B0604020202020204" charset="0"/>
      <p:regular r:id="rId19"/>
    </p:embeddedFont>
    <p:embeddedFont>
      <p:font typeface="Host Grotesk Bold" panose="020B0604020202020204" charset="0"/>
      <p:regular r:id="rId20"/>
    </p:embeddedFont>
    <p:embeddedFont>
      <p:font typeface="Host Grotesk Semi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EACD2F-F1F7-4CB9-8A55-CF079C16265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7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C596A-23CE-7D21-661E-78B2BEF6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76F634-BFE0-3837-9A3B-30428B93D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8B900-D8CA-1162-9D20-C58046279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118E0-3447-57B8-FF8A-23553A78D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34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3A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3A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9873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9600"/>
            <a:ext cx="3860703" cy="563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79873" y="0"/>
            <a:ext cx="7111822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659" y="233266"/>
            <a:ext cx="1219170" cy="609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38659" y="1170179"/>
            <a:ext cx="599425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Restaurant Order, Kitchen &amp; Billing System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638659" y="2616597"/>
            <a:ext cx="655303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PSPJ PROJECT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638659" y="3019425"/>
            <a:ext cx="749281" cy="31651"/>
          </a:xfrm>
          <a:prstGeom prst="roundRect">
            <a:avLst>
              <a:gd name="adj" fmla="val 49998"/>
            </a:avLst>
          </a:prstGeom>
          <a:solidFill>
            <a:srgbClr val="E0A526"/>
          </a:solidFill>
          <a:ln/>
        </p:spPr>
      </p:sp>
      <p:sp>
        <p:nvSpPr>
          <p:cNvPr id="9" name="Text 5"/>
          <p:cNvSpPr/>
          <p:nvPr/>
        </p:nvSpPr>
        <p:spPr>
          <a:xfrm>
            <a:off x="5638659" y="3328988"/>
            <a:ext cx="2920927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Shaan Inampudi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38659" y="3692783"/>
            <a:ext cx="292092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2620030286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711982" y="3328988"/>
            <a:ext cx="2920927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G. Bhaargav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711982" y="3692783"/>
            <a:ext cx="292092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2620030287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638659" y="4022618"/>
            <a:ext cx="599425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Course:  26SC1101E PSPJ | Section: 13 | Faculty: CHAITANYA KUMAR 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2044332" y="6659612"/>
            <a:ext cx="10060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304800"/>
            <a:ext cx="999802" cy="507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987" y="900637"/>
            <a:ext cx="5103685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ABSTRACT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07987" y="1171137"/>
            <a:ext cx="7111822" cy="1184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kern="100" spc="-33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A beginner-level Java console application designed to view the restaurant menu, place food orders, forward confirmed orders to the kitchen, and generate the final bill with automated calculations.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07987" y="2579588"/>
            <a:ext cx="888879" cy="31651"/>
          </a:xfrm>
          <a:prstGeom prst="roundRect">
            <a:avLst>
              <a:gd name="adj" fmla="val 49998"/>
            </a:avLst>
          </a:prstGeom>
          <a:solidFill>
            <a:srgbClr val="E0A526"/>
          </a:solidFill>
          <a:ln/>
        </p:spPr>
      </p:sp>
      <p:sp>
        <p:nvSpPr>
          <p:cNvPr id="7" name="Text 4"/>
          <p:cNvSpPr/>
          <p:nvPr/>
        </p:nvSpPr>
        <p:spPr>
          <a:xfrm>
            <a:off x="507987" y="2838351"/>
            <a:ext cx="3403515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Data Storage: 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Parallel arrays manage menu item names, unit prices, and ordered quantities cleanly.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7987" y="3710980"/>
            <a:ext cx="3403515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Control Flow: 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Interactive menu selection, order loop, and rigorous input validation for choices and quantities.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16295" y="2838351"/>
            <a:ext cx="3403515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Modular Methods: 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Distinct functional methods split the application into reusable, maintainable sections.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216295" y="3710980"/>
            <a:ext cx="3403515" cy="124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Core Java Concepts: 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Demonstrates variables, constants, arithmetic operators, Scanner input, formatted output, conditionals, loops, methods, arrays, linear searching, summation, and counting.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381" y="609600"/>
            <a:ext cx="2844729" cy="5638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038726" y="6652320"/>
            <a:ext cx="10060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13147"/>
            <a:ext cx="116837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UNDERSTANDING PROBLEM STATEMENT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7987" y="690805"/>
            <a:ext cx="11175720" cy="37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42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Module Segregation: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87" y="1197670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7987" y="1482130"/>
            <a:ext cx="1481497" cy="1905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" y="1623020"/>
            <a:ext cx="1481597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Menu Management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7987" y="2235359"/>
            <a:ext cx="1481597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Food names and unit prices stored in parallel arrays.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46772" y="1197670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46772" y="1482130"/>
            <a:ext cx="1481497" cy="1905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0" name="Text 8"/>
          <p:cNvSpPr/>
          <p:nvPr/>
        </p:nvSpPr>
        <p:spPr>
          <a:xfrm>
            <a:off x="2446772" y="1623020"/>
            <a:ext cx="1481597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Order Management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46772" y="2235359"/>
            <a:ext cx="1481597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Captures item numbers and quantities; updates ordered counts.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5557" y="1197670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5557" y="1482130"/>
            <a:ext cx="1481597" cy="1905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4" name="Text 12"/>
          <p:cNvSpPr/>
          <p:nvPr/>
        </p:nvSpPr>
        <p:spPr>
          <a:xfrm>
            <a:off x="4385557" y="1623020"/>
            <a:ext cx="1481696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Kitchen Management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85557" y="2235359"/>
            <a:ext cx="1481696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Shows ordered items and quantities for preparation.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4442" y="1197670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24442" y="1482130"/>
            <a:ext cx="1481497" cy="1905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8" name="Text 16"/>
          <p:cNvSpPr/>
          <p:nvPr/>
        </p:nvSpPr>
        <p:spPr>
          <a:xfrm>
            <a:off x="6324442" y="1623020"/>
            <a:ext cx="1481597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Billing Management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24442" y="2235359"/>
            <a:ext cx="1481597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Calculates subtotal, discount, 5% tax, and final payable.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63227" y="1197670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63227" y="1482130"/>
            <a:ext cx="1481497" cy="1905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2" name="Text 20"/>
          <p:cNvSpPr/>
          <p:nvPr/>
        </p:nvSpPr>
        <p:spPr>
          <a:xfrm>
            <a:off x="8263227" y="1623020"/>
            <a:ext cx="1481597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Input Validation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63227" y="1986816"/>
            <a:ext cx="1481597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Handles invalid choices and quantities.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02012" y="1197670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202012" y="1482130"/>
            <a:ext cx="1481597" cy="1905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6" name="Text 24"/>
          <p:cNvSpPr/>
          <p:nvPr/>
        </p:nvSpPr>
        <p:spPr>
          <a:xfrm>
            <a:off x="10202012" y="1623020"/>
            <a:ext cx="1481696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Method-Based Design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202012" y="2235359"/>
            <a:ext cx="1481696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Separates program logic into reusable methods.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7987" y="3234928"/>
            <a:ext cx="11175720" cy="1005086"/>
          </a:xfrm>
          <a:prstGeom prst="roundRect">
            <a:avLst>
              <a:gd name="adj" fmla="val 3033"/>
            </a:avLst>
          </a:prstGeom>
          <a:solidFill>
            <a:srgbClr val="705110"/>
          </a:solidFill>
          <a:ln/>
        </p:spPr>
      </p:sp>
      <p:sp>
        <p:nvSpPr>
          <p:cNvPr id="29" name="Text 27"/>
          <p:cNvSpPr/>
          <p:nvPr/>
        </p:nvSpPr>
        <p:spPr>
          <a:xfrm>
            <a:off x="711182" y="3488928"/>
            <a:ext cx="10769331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Key Advantages: 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Beginner-friendly console; modular methods and arrays reduce repetition; automatic calculations reduce billing errors; validation; expandable with customer details, tables, payment modes, and a database.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2039804" y="6652320"/>
            <a:ext cx="10060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87747"/>
            <a:ext cx="116837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CO 1 TOPIC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7987" y="665405"/>
            <a:ext cx="11175720" cy="37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42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Variables, Constants, and Operators in Action: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172270"/>
            <a:ext cx="3521979" cy="203735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375470"/>
            <a:ext cx="3115589" cy="114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Constants (</a:t>
            </a:r>
            <a:r>
              <a:rPr lang="en-US" sz="13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)</a:t>
            </a:r>
            <a:endParaRPr lang="en-US" sz="13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Defined fixed values such as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 double TAX_RATE = 0.05;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representing the standard 5% restaurant tax rate.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34759" y="1172270"/>
            <a:ext cx="3522078" cy="203735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37954" y="1375470"/>
            <a:ext cx="3115688" cy="163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Variables &amp; Arrays</a:t>
            </a:r>
            <a:endParaRPr lang="en-US" sz="13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Declared variables for user choice, subtotal, discount, tax, and final amount; parallel arrays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foodItems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,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, and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quantities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hold operational state.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61629" y="1172270"/>
            <a:ext cx="3522078" cy="203735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364824" y="1375470"/>
            <a:ext cx="3115688" cy="1133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Arithmetic Operators</a:t>
            </a:r>
            <a:endParaRPr lang="en-US" sz="13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Used multiplication (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prices[i] * quantities[i]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 for line totals and summation for subtotal calculation.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7987" y="3336627"/>
            <a:ext cx="5435464" cy="15402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11182" y="3539827"/>
            <a:ext cx="5029074" cy="1108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Discount Calculations</a:t>
            </a:r>
            <a:endParaRPr lang="en-US" sz="13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Tiered discount logic calculates savings using percentage multipliers (10% discount for orders ≥ Rs. 1000, 5% for orders ≥ Rs. 500).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8244" y="3336627"/>
            <a:ext cx="5435464" cy="15402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439" y="3539827"/>
            <a:ext cx="5029074" cy="1133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Tax Computation &amp; Net Payable</a:t>
            </a:r>
            <a:endParaRPr lang="en-US" sz="13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Applied formula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tax = (subtotal - discount) * TAX_RATE;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finalAmount = subtotal - discount + tax;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 derive final billing figures.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055435" y="6652320"/>
            <a:ext cx="10060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438547"/>
            <a:ext cx="721342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CO 2 TOPIC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7987" y="716205"/>
            <a:ext cx="6705432" cy="753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42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Scanner Input, Output Formatting &amp; Conditionals: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7987" y="1693664"/>
            <a:ext cx="838179" cy="31651"/>
          </a:xfrm>
          <a:prstGeom prst="roundRect">
            <a:avLst>
              <a:gd name="adj" fmla="val 49998"/>
            </a:avLst>
          </a:prstGeom>
          <a:solidFill>
            <a:srgbClr val="E0A526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" y="2079427"/>
            <a:ext cx="6705432" cy="509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Scanner input: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Scanner sc = new Scanner(System.in);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captures menu choices, item selections, and quantities.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7987" y="2843213"/>
            <a:ext cx="670543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Formatted output: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System.out.println()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displays the menu.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7987" y="3358455"/>
            <a:ext cx="670543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 on menu choice 1–5: 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case prints “Invalid choice.”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7987" y="3873698"/>
            <a:ext cx="6705432" cy="509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/ else-if</a:t>
            </a: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 discount slabs: 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10% at subtotal ≥ Rs.1000; 5% at ≥ Rs.500; otherwise zero.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992" y="609600"/>
            <a:ext cx="3251119" cy="56388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07987" y="2709863"/>
            <a:ext cx="6705432" cy="12700"/>
          </a:xfrm>
          <a:prstGeom prst="rect">
            <a:avLst/>
          </a:prstGeom>
          <a:solidFill>
            <a:srgbClr val="6B5D50"/>
          </a:solidFill>
          <a:ln/>
        </p:spPr>
      </p:sp>
      <p:sp>
        <p:nvSpPr>
          <p:cNvPr id="17" name="Shape 14"/>
          <p:cNvSpPr/>
          <p:nvPr/>
        </p:nvSpPr>
        <p:spPr>
          <a:xfrm>
            <a:off x="507987" y="3225105"/>
            <a:ext cx="6705432" cy="12700"/>
          </a:xfrm>
          <a:prstGeom prst="rect">
            <a:avLst/>
          </a:prstGeom>
          <a:solidFill>
            <a:srgbClr val="6B5D50"/>
          </a:solidFill>
          <a:ln/>
        </p:spPr>
      </p:sp>
      <p:sp>
        <p:nvSpPr>
          <p:cNvPr id="18" name="Shape 15"/>
          <p:cNvSpPr/>
          <p:nvPr/>
        </p:nvSpPr>
        <p:spPr>
          <a:xfrm>
            <a:off x="507987" y="3740348"/>
            <a:ext cx="6705432" cy="12700"/>
          </a:xfrm>
          <a:prstGeom prst="rect">
            <a:avLst/>
          </a:prstGeom>
          <a:solidFill>
            <a:srgbClr val="6B5D50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183" y="6652320"/>
            <a:ext cx="10060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84201"/>
            <a:ext cx="1168370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101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CO 3 TOPIC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56225"/>
            <a:ext cx="11175720" cy="36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750" kern="100" spc="-41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Repetition Structures &amp; Loop Control: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507987" y="1168995"/>
            <a:ext cx="86655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7987" y="1445915"/>
            <a:ext cx="5511662" cy="1905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" y="1583630"/>
            <a:ext cx="5511662" cy="12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85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r>
              <a:rPr lang="en-US" sz="15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 Loop:</a:t>
            </a:r>
            <a:endParaRPr lang="en-US" sz="15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Drives the primary application menu; ensures the console interface renders at least once and continues looping until the user selects choice </a:t>
            </a:r>
            <a:r>
              <a:rPr lang="en-US" sz="15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5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(Exit).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172046" y="1168995"/>
            <a:ext cx="86655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72046" y="1445915"/>
            <a:ext cx="5511662" cy="1905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0" name="Text 8"/>
          <p:cNvSpPr/>
          <p:nvPr/>
        </p:nvSpPr>
        <p:spPr>
          <a:xfrm>
            <a:off x="6172046" y="1583630"/>
            <a:ext cx="5511662" cy="12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85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while(true)</a:t>
            </a:r>
            <a:r>
              <a:rPr lang="en-US" sz="15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 Order Loop:</a:t>
            </a:r>
            <a:endParaRPr lang="en-US" sz="15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Allows continuous, multiple-item selection in a single session; uses sentinel value </a:t>
            </a:r>
            <a:r>
              <a:rPr lang="en-US" sz="15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with a </a:t>
            </a:r>
            <a:r>
              <a:rPr lang="en-US" sz="15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r>
              <a:rPr lang="en-US" sz="15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statement to return to the main dashboard.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07987" y="2988370"/>
            <a:ext cx="86655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07987" y="3265289"/>
            <a:ext cx="5511662" cy="1905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4" name="Text 12"/>
          <p:cNvSpPr/>
          <p:nvPr/>
        </p:nvSpPr>
        <p:spPr>
          <a:xfrm>
            <a:off x="507987" y="3403005"/>
            <a:ext cx="5511662" cy="124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85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Standard </a:t>
            </a:r>
            <a:r>
              <a:rPr lang="en-US" sz="15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 Loops:</a:t>
            </a:r>
            <a:endParaRPr lang="en-US" sz="15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Iterates systematically across parallel arrays to display the full menu, print pending kitchen order lines, and compute the subtotal summation.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172046" y="2988370"/>
            <a:ext cx="86655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172046" y="3265289"/>
            <a:ext cx="5511662" cy="1905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046" y="3403005"/>
            <a:ext cx="5511662" cy="124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85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Loop Jump Statements:</a:t>
            </a:r>
            <a:endParaRPr lang="en-US" sz="15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5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terminates order entry or exits loops; </a:t>
            </a:r>
            <a:r>
              <a:rPr lang="en-US" sz="15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r>
              <a:rPr lang="en-US" sz="15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safely skips invalid input passes during item validation without crashing the console session.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07987" y="4807942"/>
            <a:ext cx="86655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07987" y="5084862"/>
            <a:ext cx="11175621" cy="1905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1" name="Text 19"/>
          <p:cNvSpPr/>
          <p:nvPr/>
        </p:nvSpPr>
        <p:spPr>
          <a:xfrm>
            <a:off x="507987" y="5222577"/>
            <a:ext cx="11175720" cy="96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85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Enhanced Highlight:</a:t>
            </a:r>
            <a:endParaRPr lang="en-US" sz="15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extended version incorporates robust input retry loops catching </a:t>
            </a:r>
            <a:r>
              <a:rPr lang="en-US" sz="15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InputMismatchException</a:t>
            </a:r>
            <a:r>
              <a:rPr lang="en-US" sz="15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 re-prompt smoothly upon non-integer keystrokes.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2066367" y="6657777"/>
            <a:ext cx="97926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6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362347"/>
            <a:ext cx="11709107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CO 4 TOPIC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2588" y="637670"/>
            <a:ext cx="11226519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00" kern="100" spc="-36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Modular Architecture with Methods, Parameters &amp; Return Values: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82588" y="1067594"/>
            <a:ext cx="3665942" cy="130373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1219994"/>
            <a:ext cx="348814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displayMenu()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0383" y="1596489"/>
            <a:ext cx="3310351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Void method that iterates and prints the restaurant item list, item numbers, and unit prices.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00926" y="1067594"/>
            <a:ext cx="3589744" cy="130373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478722" y="1219994"/>
            <a:ext cx="341194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placeOrder(Scanner sc)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78722" y="1596489"/>
            <a:ext cx="3234153" cy="623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Parameterized method receiving the active </a:t>
            </a:r>
            <a:r>
              <a:rPr lang="en-US" sz="1200" kern="100" spc="12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reference to orchestrate interactive item selection and update order counts.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3066" y="1067594"/>
            <a:ext cx="3666041" cy="130373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862" y="1219994"/>
            <a:ext cx="348824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displayKitchenOrder()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0862" y="1596489"/>
            <a:ext cx="331045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Inspects ordered quantities and outputs active preparation tickets for the kitchen team.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2588" y="2523728"/>
            <a:ext cx="3665942" cy="130373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60383" y="2676128"/>
            <a:ext cx="348814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calculateSubtotal()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0383" y="3052624"/>
            <a:ext cx="3310351" cy="417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Returns </a:t>
            </a:r>
            <a:r>
              <a:rPr lang="en-US" sz="1200" kern="100" spc="12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; computes and aggregates total gross cost across all ordered items.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00926" y="2523728"/>
            <a:ext cx="3589744" cy="130373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478722" y="2676128"/>
            <a:ext cx="341194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calculateDiscount(double subtotal)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78722" y="3052624"/>
            <a:ext cx="3234153" cy="623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Takes subtotal as argument and returns computed discount </a:t>
            </a:r>
            <a:r>
              <a:rPr lang="en-US" sz="1200" kern="100" spc="12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based on tier thresholds.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3066" y="2523728"/>
            <a:ext cx="3666041" cy="130373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0862" y="2676128"/>
            <a:ext cx="348824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generateBill()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0862" y="3052624"/>
            <a:ext cx="3310450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Coordinates subtotal, discount, and tax routines to print the complete itemized receipt.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2588" y="3954463"/>
            <a:ext cx="11226519" cy="1030486"/>
          </a:xfrm>
          <a:prstGeom prst="roundRect">
            <a:avLst>
              <a:gd name="adj" fmla="val 2958"/>
            </a:avLst>
          </a:prstGeom>
          <a:solidFill>
            <a:srgbClr val="70511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783" y="4208463"/>
            <a:ext cx="1082012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Enhanced Highlight: 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enhanced version leverages OOP methods with an interface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Printable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, inheritance (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MenuItem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/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OrderItem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), and modular file I/O writing to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latest_receipt.txt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2040787" y="6652320"/>
            <a:ext cx="10060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362347"/>
            <a:ext cx="11709107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CO 5 TOPIC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2588" y="640005"/>
            <a:ext cx="11226519" cy="37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42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Array Structures and In-Memory Data Management: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588" y="1121470"/>
          <a:ext cx="11226520" cy="2867250"/>
        </p:xfrm>
        <a:graphic>
          <a:graphicData uri="http://schemas.openxmlformats.org/drawingml/2006/table">
            <a:tbl>
              <a:tblPr/>
              <a:tblGrid>
                <a:gridCol w="246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8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8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7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Structure / Principle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Declaration &amp; Syntax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Role in System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6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Item Names Array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String[] foodItems = {"Burger", "Pizza", "Pasta", "French Fries", "Soft Drink"};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Menu titles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Price Mapping Array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double[] prices = {120, 250, 180, 100, 60};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Unit prices in INR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Quantities Array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int[] quantities = new int[foodItems.length];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Cumulative counts, sized to the menu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Zero-Based Indexing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quantities[item - 1] += quantity;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Convert item number to array index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Data Consistency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Shared index </a:t>
                      </a:r>
                      <a:r>
                        <a:rPr lang="en-US" sz="13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r>
                        <a:rPr lang="en-US" sz="135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 aligns the three arrays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Accurate line items across operations</a:t>
                      </a:r>
                      <a:endParaRPr lang="en-US" sz="13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82588" y="4115792"/>
            <a:ext cx="11226519" cy="769243"/>
          </a:xfrm>
          <a:prstGeom prst="roundRect">
            <a:avLst>
              <a:gd name="adj" fmla="val 3962"/>
            </a:avLst>
          </a:prstGeom>
          <a:solidFill>
            <a:srgbClr val="705110"/>
          </a:solidFill>
          <a:ln/>
        </p:spPr>
      </p:sp>
      <p:sp>
        <p:nvSpPr>
          <p:cNvPr id="6" name="Text 3"/>
          <p:cNvSpPr/>
          <p:nvPr/>
        </p:nvSpPr>
        <p:spPr>
          <a:xfrm>
            <a:off x="685783" y="4369792"/>
            <a:ext cx="1142971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Enhanced Highlight: 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enhanced version uses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MenuItem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objects and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Arrays.sort()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with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Comparable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 sort by price.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033169" y="6652320"/>
            <a:ext cx="10060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87747"/>
            <a:ext cx="116837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CO 6 TOPIC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7987" y="665405"/>
            <a:ext cx="11175720" cy="37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42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Searching, Summation &amp; Counting Logic: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164455"/>
            <a:ext cx="5435464" cy="15402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375470"/>
            <a:ext cx="5029074" cy="1133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Searching / Validation</a:t>
            </a:r>
            <a:endParaRPr lang="en-US" sz="13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Validates that each requested item number lies within the range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foodItems.length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; the enhanced version also uses a custom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InvalidOrderException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for invalid orders.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48244" y="1172270"/>
            <a:ext cx="5435464" cy="15402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51439" y="1375470"/>
            <a:ext cx="5029074" cy="1108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Boolean Found Flag</a:t>
            </a:r>
            <a:endParaRPr lang="en-US" sz="13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Kitchen display and bill generation use a boolean found indicator to determine whether any menu item has a positive ordered quantity.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7987" y="3017341"/>
            <a:ext cx="5435464" cy="127902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711182" y="3220541"/>
            <a:ext cx="5029074" cy="87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Summation</a:t>
            </a:r>
            <a:endParaRPr lang="en-US" sz="13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Subtotal loop aggregates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prices[i] * quantities[i]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for every menu position.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48244" y="3017341"/>
            <a:ext cx="5435464" cy="127902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51439" y="3220541"/>
            <a:ext cx="5029074" cy="87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Counting / Filtering</a:t>
            </a:r>
            <a:endParaRPr lang="en-US" sz="13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Only entries with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quantities[i] &gt; 0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are printed as kitchen lines and bill line items, avoiding empty rows.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7987" y="4423370"/>
            <a:ext cx="11175720" cy="756543"/>
          </a:xfrm>
          <a:prstGeom prst="roundRect">
            <a:avLst>
              <a:gd name="adj" fmla="val 4029"/>
            </a:avLst>
          </a:prstGeom>
          <a:solidFill>
            <a:srgbClr val="705110"/>
          </a:solidFill>
          <a:ln/>
        </p:spPr>
      </p:sp>
      <p:sp>
        <p:nvSpPr>
          <p:cNvPr id="13" name="Text 11"/>
          <p:cNvSpPr/>
          <p:nvPr/>
        </p:nvSpPr>
        <p:spPr>
          <a:xfrm>
            <a:off x="711182" y="4677370"/>
            <a:ext cx="11378915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Receipt Output: 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extended version preserves Subtotal, Discount, Tax (5%), and Final Amount in the saved receipt file.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039794" y="6652320"/>
            <a:ext cx="10060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9600"/>
            <a:ext cx="3657509" cy="563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76678" y="0"/>
            <a:ext cx="7315017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5384665" y="463947"/>
            <a:ext cx="680703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384665" y="741024"/>
            <a:ext cx="6299042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b="1" kern="100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The Restaurant Order, Kitchen &amp; Billing System </a:t>
            </a:r>
            <a:r>
              <a:rPr lang="en-US" sz="2200" kern="100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is a modular, beginner-friendly console system covering menu viewing, ordering, kitchen tracking, and billing, with input validation and automatic calculations. It can be extended with customer details, tables, payment modes, and a database.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384665" y="2890105"/>
            <a:ext cx="787380" cy="31651"/>
          </a:xfrm>
          <a:prstGeom prst="roundRect">
            <a:avLst>
              <a:gd name="adj" fmla="val 49998"/>
            </a:avLst>
          </a:prstGeom>
          <a:solidFill>
            <a:srgbClr val="E0A526"/>
          </a:solidFill>
          <a:ln/>
        </p:spPr>
      </p:sp>
      <p:sp>
        <p:nvSpPr>
          <p:cNvPr id="8" name="Text 5"/>
          <p:cNvSpPr/>
          <p:nvPr/>
        </p:nvSpPr>
        <p:spPr>
          <a:xfrm>
            <a:off x="5384665" y="3000375"/>
            <a:ext cx="6299042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Enhanced version: 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sorts the menu by price with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Arrays.sort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/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Comparable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; uses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MenuItem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OrderItem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classes, the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Printable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interface, and inheritance; handles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InvalidOrderException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r>
              <a:rPr lang="en-US" sz="1350" dirty="0">
                <a:solidFill>
                  <a:srgbClr val="FFFFFF"/>
                </a:solidFill>
                <a:highlight>
                  <a:srgbClr val="342E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InputMismatchException</a:t>
            </a:r>
            <a:r>
              <a:rPr lang="en-US" sz="13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; and saves the bill to latest_receipt.txt via file I/O.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920159" y="6652320"/>
            <a:ext cx="20121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550A1-02A2-69A0-4838-D4C9EA4E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90C352-38EB-B539-9907-AF7A56BEBF5B}"/>
              </a:ext>
            </a:extLst>
          </p:cNvPr>
          <p:cNvSpPr/>
          <p:nvPr/>
        </p:nvSpPr>
        <p:spPr>
          <a:xfrm>
            <a:off x="0" y="-2746"/>
            <a:ext cx="8127797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AEFBD2D-E258-7EE2-D12E-BA04164CF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304800"/>
            <a:ext cx="999802" cy="50790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3811444-C651-F648-3ECF-13A2D9961E74}"/>
              </a:ext>
            </a:extLst>
          </p:cNvPr>
          <p:cNvSpPr/>
          <p:nvPr/>
        </p:nvSpPr>
        <p:spPr>
          <a:xfrm>
            <a:off x="507987" y="900637"/>
            <a:ext cx="5103685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</a:rPr>
              <a:t>Screen Shots</a:t>
            </a:r>
            <a:endParaRPr lang="en-US" sz="11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48A6AB9-91B0-DEAB-6DEE-198C72EBBF64}"/>
              </a:ext>
            </a:extLst>
          </p:cNvPr>
          <p:cNvSpPr/>
          <p:nvPr/>
        </p:nvSpPr>
        <p:spPr>
          <a:xfrm>
            <a:off x="507987" y="1099223"/>
            <a:ext cx="1180136" cy="45719"/>
          </a:xfrm>
          <a:prstGeom prst="roundRect">
            <a:avLst>
              <a:gd name="adj" fmla="val 49998"/>
            </a:avLst>
          </a:prstGeom>
          <a:solidFill>
            <a:srgbClr val="E0A526"/>
          </a:solidFill>
          <a:ln/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52BD88E-3E7E-A7D2-DF01-37E8ED03E32C}"/>
              </a:ext>
            </a:extLst>
          </p:cNvPr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6A3921B-DFC2-7275-FFF6-48BDB4245059}"/>
              </a:ext>
            </a:extLst>
          </p:cNvPr>
          <p:cNvSpPr/>
          <p:nvPr/>
        </p:nvSpPr>
        <p:spPr>
          <a:xfrm>
            <a:off x="12038726" y="6652320"/>
            <a:ext cx="10060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2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E59A2A-79C6-8677-F431-CE5CDD91C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" y="1430365"/>
            <a:ext cx="2627252" cy="1596305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90F66B48-BFEA-2C14-5D29-FFA50016FCC2}"/>
              </a:ext>
            </a:extLst>
          </p:cNvPr>
          <p:cNvSpPr/>
          <p:nvPr/>
        </p:nvSpPr>
        <p:spPr>
          <a:xfrm>
            <a:off x="507987" y="1225218"/>
            <a:ext cx="21336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</a:rPr>
              <a:t>1. Restaurant System</a:t>
            </a:r>
            <a:endParaRPr lang="en-US" sz="115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9AF2F5BA-DB3B-C571-1637-8348A937E9C8}"/>
              </a:ext>
            </a:extLst>
          </p:cNvPr>
          <p:cNvSpPr/>
          <p:nvPr/>
        </p:nvSpPr>
        <p:spPr>
          <a:xfrm>
            <a:off x="3455804" y="1227466"/>
            <a:ext cx="5103685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</a:rPr>
              <a:t>2. Display Menu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6078597-D5F0-4290-AFC4-9874A8E5D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5804" y="1430365"/>
            <a:ext cx="2319630" cy="2743649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1E53F626-BF1E-6CDF-E68B-CEFF9ADE41B1}"/>
              </a:ext>
            </a:extLst>
          </p:cNvPr>
          <p:cNvSpPr/>
          <p:nvPr/>
        </p:nvSpPr>
        <p:spPr>
          <a:xfrm>
            <a:off x="6095999" y="1225218"/>
            <a:ext cx="5103685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</a:rPr>
              <a:t>3. Placing Order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83B7385-346C-7298-6374-562BE7FA6B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8873" y="1430365"/>
            <a:ext cx="2036951" cy="1272055"/>
          </a:xfrm>
          <a:prstGeom prst="rect">
            <a:avLst/>
          </a:prstGeom>
        </p:spPr>
      </p:pic>
      <p:sp>
        <p:nvSpPr>
          <p:cNvPr id="29" name="Text 1">
            <a:extLst>
              <a:ext uri="{FF2B5EF4-FFF2-40B4-BE49-F238E27FC236}">
                <a16:creationId xmlns:a16="http://schemas.microsoft.com/office/drawing/2014/main" id="{A960039C-107C-CFD8-1321-A374FA4B3CB0}"/>
              </a:ext>
            </a:extLst>
          </p:cNvPr>
          <p:cNvSpPr/>
          <p:nvPr/>
        </p:nvSpPr>
        <p:spPr>
          <a:xfrm>
            <a:off x="9018873" y="1222172"/>
            <a:ext cx="5103685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</a:rPr>
              <a:t>4. Kitchen Order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85F2876-8D38-7F52-505F-CC928A12DB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987" y="4330325"/>
            <a:ext cx="6543187" cy="24277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ED4373-6D3F-490A-208B-F7E11DEAB5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999" y="1410029"/>
            <a:ext cx="2602309" cy="4007390"/>
          </a:xfrm>
          <a:prstGeom prst="rect">
            <a:avLst/>
          </a:prstGeom>
        </p:spPr>
      </p:pic>
      <p:sp>
        <p:nvSpPr>
          <p:cNvPr id="33" name="Text 1">
            <a:extLst>
              <a:ext uri="{FF2B5EF4-FFF2-40B4-BE49-F238E27FC236}">
                <a16:creationId xmlns:a16="http://schemas.microsoft.com/office/drawing/2014/main" id="{184D8E81-377D-0338-A257-0CF34C400BAA}"/>
              </a:ext>
            </a:extLst>
          </p:cNvPr>
          <p:cNvSpPr/>
          <p:nvPr/>
        </p:nvSpPr>
        <p:spPr>
          <a:xfrm>
            <a:off x="507987" y="4082732"/>
            <a:ext cx="21336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</a:pPr>
            <a:r>
              <a:rPr lang="en-US" sz="1150" kern="100" spc="103" dirty="0">
                <a:solidFill>
                  <a:srgbClr val="E0A526"/>
                </a:solidFill>
                <a:latin typeface="Host Grotesk SemiBold" pitchFamily="34" charset="0"/>
              </a:rPr>
              <a:t>5. Billing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922072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1227</Words>
  <Application>Microsoft Office PowerPoint</Application>
  <PresentationFormat>Widescreen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Host Grotesk Bold</vt:lpstr>
      <vt:lpstr>Host Grotesk</vt:lpstr>
      <vt:lpstr>Gloock</vt:lpstr>
      <vt:lpstr>Arial</vt:lpstr>
      <vt:lpstr>Host Grotesk SemiBold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Shaan Inampudi</cp:lastModifiedBy>
  <cp:revision>6</cp:revision>
  <dcterms:created xsi:type="dcterms:W3CDTF">2026-10-15T19:28:28Z</dcterms:created>
  <dcterms:modified xsi:type="dcterms:W3CDTF">2026-10-16T08:50:22Z</dcterms:modified>
</cp:coreProperties>
</file>